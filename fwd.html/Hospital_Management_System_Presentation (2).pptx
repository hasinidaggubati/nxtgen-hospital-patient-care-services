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72" r:id="rId3"/>
    <p:sldId id="257" r:id="rId4"/>
    <p:sldId id="259" r:id="rId5"/>
    <p:sldId id="260" r:id="rId6"/>
    <p:sldId id="261" r:id="rId7"/>
    <p:sldId id="271" r:id="rId8"/>
    <p:sldId id="264" r:id="rId9"/>
    <p:sldId id="265" r:id="rId10"/>
    <p:sldId id="266" r:id="rId11"/>
    <p:sldId id="267" r:id="rId12"/>
    <p:sldId id="270" r:id="rId13"/>
    <p:sldId id="27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A850D0-555D-43C8-B666-F91119ABF1D6}" v="3" dt="2026-03-09T15:45:30.570"/>
    <p1510:client id="{940747C6-6691-8CDA-4FAC-3CB493C3F81D}" v="29" dt="2026-03-09T15:56:43.9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2504"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54296" y="1600200"/>
            <a:ext cx="4032504"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1"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5293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sp>
        <p:nvSpPr>
          <p:cNvPr id="1026" name="Title 1025"/>
          <p:cNvSpPr>
            <a:spLocks noGrp="1"/>
          </p:cNvSpPr>
          <p:nvPr>
            <p:ph type="title"/>
          </p:nvPr>
        </p:nvSpPr>
        <p:spPr>
          <a:xfrm>
            <a:off x="457200" y="274638"/>
            <a:ext cx="8229600" cy="1143000"/>
          </a:xfrm>
          <a:prstGeom prst="rect">
            <a:avLst/>
          </a:prstGeom>
          <a:noFill/>
          <a:ln w="9525">
            <a:noFill/>
          </a:ln>
        </p:spPr>
        <p:txBody>
          <a:bodyPr anchor="ctr" anchorCtr="0"/>
          <a:lstStyle/>
          <a:p>
            <a:pPr lvl="0"/>
            <a:r>
              <a:t>Click to edit Master title style</a:t>
            </a:r>
          </a:p>
        </p:txBody>
      </p:sp>
      <p:sp>
        <p:nvSpPr>
          <p:cNvPr id="1027" name="Text Placeholder 1026"/>
          <p:cNvSpPr>
            <a:spLocks noGrp="1"/>
          </p:cNvSpPr>
          <p:nvPr>
            <p:ph type="body" idx="1"/>
          </p:nvPr>
        </p:nvSpPr>
        <p:spPr>
          <a:xfrm>
            <a:off x="457200" y="1600200"/>
            <a:ext cx="8229600" cy="4525963"/>
          </a:xfrm>
          <a:prstGeom prst="rect">
            <a:avLst/>
          </a:prstGeom>
          <a:noFill/>
          <a:ln w="9525">
            <a:noFill/>
          </a:ln>
        </p:spPr>
        <p:txBody>
          <a:bodyPr/>
          <a:lstStyle/>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a:spLocks noGrp="1"/>
          </p:cNvSpPr>
          <p:nvPr>
            <p:ph type="dt" sz="half" idx="2"/>
          </p:nvPr>
        </p:nvSpPr>
        <p:spPr>
          <a:xfrm>
            <a:off x="457200" y="6245225"/>
            <a:ext cx="2133600" cy="476250"/>
          </a:xfrm>
          <a:prstGeom prst="rect">
            <a:avLst/>
          </a:prstGeom>
          <a:noFill/>
          <a:ln w="9525">
            <a:noFill/>
          </a:ln>
        </p:spPr>
        <p:txBody>
          <a:bodyPr/>
          <a:lstStyle>
            <a:lvl1pPr>
              <a:defRPr sz="1400"/>
            </a:lvl1pPr>
          </a:lstStyle>
          <a:p>
            <a:fld id="{5BCAD085-E8A6-8845-BD4E-CB4CCA059FC4}" type="datetimeFigureOut">
              <a:rPr lang="en-US" smtClean="0"/>
              <a:t>3/9/2026</a:t>
            </a:fld>
            <a:endParaRPr lang="en-US"/>
          </a:p>
        </p:txBody>
      </p:sp>
      <p:sp>
        <p:nvSpPr>
          <p:cNvPr id="1029" name="Footer Placeholder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a:lvl1pPr>
          </a:lstStyle>
          <a:p>
            <a:endParaRPr lang="en-US"/>
          </a:p>
        </p:txBody>
      </p:sp>
      <p:sp>
        <p:nvSpPr>
          <p:cNvPr id="1030" name="Slide Number Placeholder 102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239395"/>
            <a:ext cx="6858000" cy="1343025"/>
          </a:xfrm>
        </p:spPr>
        <p:txBody>
          <a:bodyPr>
            <a:noAutofit/>
          </a:bodyPr>
          <a:lstStyle/>
          <a:p>
            <a:r>
              <a:rPr sz="3600">
                <a:latin typeface="Bookman Old Style" panose="02050604050505020204" charset="0"/>
                <a:cs typeface="Bookman Old Style" panose="02050604050505020204" charset="0"/>
              </a:rPr>
              <a:t>Hospital Management System</a:t>
            </a:r>
          </a:p>
        </p:txBody>
      </p:sp>
      <p:sp>
        <p:nvSpPr>
          <p:cNvPr id="3" name="Subtitle 2"/>
          <p:cNvSpPr>
            <a:spLocks noGrp="1"/>
          </p:cNvSpPr>
          <p:nvPr>
            <p:ph type="subTitle" idx="1"/>
          </p:nvPr>
        </p:nvSpPr>
        <p:spPr>
          <a:xfrm>
            <a:off x="1371600" y="1934210"/>
            <a:ext cx="6515735" cy="4643120"/>
          </a:xfrm>
        </p:spPr>
        <p:txBody>
          <a:bodyPr>
            <a:normAutofit/>
          </a:bodyPr>
          <a:lstStyle/>
          <a:p>
            <a:r>
              <a:rPr sz="2400">
                <a:latin typeface="Bookman Old Style" panose="02050604050505020204" charset="0"/>
                <a:cs typeface="Bookman Old Style" panose="02050604050505020204" charset="0"/>
              </a:rPr>
              <a:t>Java Individual Project Presentation</a:t>
            </a:r>
            <a:endParaRPr sz="2800">
              <a:latin typeface="Bookman Old Style" panose="02050604050505020204" charset="0"/>
              <a:cs typeface="Bookman Old Style" panose="02050604050505020204" charset="0"/>
            </a:endParaRPr>
          </a:p>
          <a:p>
            <a:endParaRPr sz="1600">
              <a:latin typeface="Bookman Old Style" panose="02050604050505020204" charset="0"/>
              <a:cs typeface="Bookman Old Style" panose="02050604050505020204" charset="0"/>
            </a:endParaRPr>
          </a:p>
          <a:p>
            <a:r>
              <a:rPr sz="1600">
                <a:latin typeface="Bookman Old Style" panose="02050604050505020204" charset="0"/>
                <a:cs typeface="Bookman Old Style" panose="02050604050505020204" charset="0"/>
              </a:rPr>
              <a:t>Presented by: </a:t>
            </a:r>
            <a:r>
              <a:rPr lang="en-IN" sz="1600">
                <a:latin typeface="Bookman Old Style" panose="02050604050505020204" charset="0"/>
                <a:cs typeface="Bookman Old Style" panose="02050604050505020204" charset="0"/>
              </a:rPr>
              <a:t>Darahasini.D(</a:t>
            </a:r>
            <a:r>
              <a:rPr lang="en-IN" sz="1600">
                <a:latin typeface="Bookman Old Style" panose="02050604050505020204" charset="0"/>
                <a:cs typeface="Bookman Old Style" panose="02050604050505020204" charset="0"/>
                <a:sym typeface="+mn-ea"/>
              </a:rPr>
              <a:t>2520030289)</a:t>
            </a:r>
            <a:endParaRPr sz="1600">
              <a:latin typeface="Bookman Old Style" panose="02050604050505020204" charset="0"/>
              <a:cs typeface="Bookman Old Style" panose="02050604050505020204" charset="0"/>
            </a:endParaRPr>
          </a:p>
          <a:p>
            <a:r>
              <a:rPr lang="en-IN" sz="1600">
                <a:latin typeface="Bookman Old Style" panose="02050604050505020204" charset="0"/>
                <a:cs typeface="Bookman Old Style" panose="02050604050505020204" charset="0"/>
              </a:rPr>
              <a:t>Cluster:1 , Section:4   </a:t>
            </a:r>
            <a:r>
              <a:rPr lang="en-IN" sz="2400">
                <a:latin typeface="Bookman Old Style" panose="02050604050505020204" charset="0"/>
                <a:cs typeface="Bookman Old Style" panose="02050604050505020204" charset="0"/>
              </a:rPr>
              <a:t> </a:t>
            </a:r>
          </a:p>
          <a:p>
            <a:endParaRPr lang="en-IN" sz="2400">
              <a:latin typeface="Bookman Old Style" panose="02050604050505020204" charset="0"/>
              <a:cs typeface="Bookman Old Style" panose="02050604050505020204" charset="0"/>
            </a:endParaRPr>
          </a:p>
          <a:p>
            <a:endParaRPr lang="en-IN" sz="2400">
              <a:latin typeface="Bookman Old Style" panose="02050604050505020204" charset="0"/>
              <a:cs typeface="Bookman Old Style" panose="02050604050505020204" charset="0"/>
            </a:endParaRPr>
          </a:p>
          <a:p>
            <a:pPr marL="0" indent="0" algn="ctr">
              <a:buNone/>
            </a:pPr>
            <a:r>
              <a:rPr lang="en-US" sz="2800">
                <a:solidFill>
                  <a:srgbClr val="00B050"/>
                </a:solidFill>
                <a:sym typeface="+mn-ea"/>
              </a:rPr>
              <a:t>Supervisor Name</a:t>
            </a:r>
            <a:r>
              <a:rPr lang="en-US" sz="2400">
                <a:solidFill>
                  <a:srgbClr val="00B050"/>
                </a:solidFill>
                <a:sym typeface="+mn-ea"/>
              </a:rPr>
              <a:t>: </a:t>
            </a:r>
            <a:r>
              <a:rPr lang="en-IN" altLang="en-US" sz="2400">
                <a:solidFill>
                  <a:srgbClr val="00B050"/>
                </a:solidFill>
                <a:sym typeface="+mn-ea"/>
              </a:rPr>
              <a:t>Madhuri Mam </a:t>
            </a:r>
            <a:endParaRPr lang="en-US" sz="2400">
              <a:solidFill>
                <a:srgbClr val="00B050"/>
              </a:solidFill>
              <a:sym typeface="+mn-ea"/>
            </a:endParaRPr>
          </a:p>
          <a:p>
            <a:pPr marL="0" indent="0" algn="ctr">
              <a:buNone/>
            </a:pPr>
            <a:r>
              <a:rPr lang="en-US" sz="2400">
                <a:solidFill>
                  <a:srgbClr val="00B050"/>
                </a:solidFill>
                <a:sym typeface="+mn-ea"/>
              </a:rPr>
              <a:t>Department of CSE</a:t>
            </a:r>
            <a:r>
              <a:rPr lang="en-IN" sz="2400">
                <a:latin typeface="Bookman Old Style" panose="02050604050505020204" charset="0"/>
                <a:cs typeface="Bookman Old Style" panose="02050604050505020204" charset="0"/>
              </a:rPr>
              <a:t>  </a:t>
            </a:r>
          </a:p>
          <a:p>
            <a:pPr marL="0" indent="0" algn="ctr">
              <a:buNone/>
            </a:pPr>
            <a:r>
              <a:rPr lang="en-IN" sz="2400">
                <a:latin typeface="Bookman Old Style" panose="02050604050505020204" charset="0"/>
                <a:cs typeface="Bookman Old Style" panose="02050604050505020204" charset="0"/>
              </a:rPr>
              <a:t>    </a:t>
            </a:r>
          </a:p>
        </p:txBody>
      </p:sp>
      <p:pic>
        <p:nvPicPr>
          <p:cNvPr id="12" name="Picture 11" descr="A picture containing shape&#10;&#10;Description automatically generated"/>
          <p:cNvPicPr>
            <a:picLocks noChangeAspect="1"/>
          </p:cNvPicPr>
          <p:nvPr/>
        </p:nvPicPr>
        <p:blipFill>
          <a:blip r:embed="rId2"/>
          <a:stretch>
            <a:fillRect/>
          </a:stretch>
        </p:blipFill>
        <p:spPr>
          <a:xfrm>
            <a:off x="3766956" y="5430573"/>
            <a:ext cx="1725712" cy="93097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74750"/>
            <a:ext cx="8229600" cy="5337175"/>
          </a:xfrm>
        </p:spPr>
        <p:txBody>
          <a:bodyPr/>
          <a:lstStyle/>
          <a:p>
            <a:pPr marL="0" indent="0" algn="just">
              <a:buFont typeface="+mj-lt"/>
              <a:buNone/>
            </a:pPr>
            <a:endParaRPr lang="en-IN" sz="1800">
              <a:sym typeface="+mn-ea"/>
            </a:endParaRPr>
          </a:p>
          <a:p>
            <a:pPr marL="514350" indent="-514350">
              <a:buFont typeface="+mj-lt"/>
              <a:buAutoNum type="arabicPeriod"/>
            </a:pPr>
            <a:r>
              <a:rPr lang="en-IN" sz="1800">
                <a:sym typeface="+mn-ea"/>
              </a:rPr>
              <a:t>Abstract</a:t>
            </a:r>
            <a:endParaRPr lang="en-IN" sz="1800"/>
          </a:p>
          <a:p>
            <a:pPr marL="514350" indent="-514350">
              <a:buFont typeface="+mj-lt"/>
              <a:buAutoNum type="arabicPeriod"/>
            </a:pPr>
            <a:r>
              <a:rPr lang="en-IN" sz="1800">
                <a:sym typeface="+mn-ea"/>
              </a:rPr>
              <a:t>Existing System </a:t>
            </a:r>
            <a:endParaRPr lang="en-IN" sz="1800"/>
          </a:p>
          <a:p>
            <a:pPr marL="514350" indent="-514350">
              <a:buFont typeface="+mj-lt"/>
              <a:buAutoNum type="arabicPeriod"/>
            </a:pPr>
            <a:r>
              <a:rPr lang="en-IN" sz="1800">
                <a:sym typeface="+mn-ea"/>
              </a:rPr>
              <a:t>Proposed System</a:t>
            </a:r>
            <a:endParaRPr lang="en-IN" sz="1800"/>
          </a:p>
          <a:p>
            <a:pPr marL="514350" indent="-514350">
              <a:buFont typeface="+mj-lt"/>
              <a:buAutoNum type="arabicPeriod"/>
            </a:pPr>
            <a:r>
              <a:rPr lang="en-IN" sz="1800">
                <a:sym typeface="+mn-ea"/>
              </a:rPr>
              <a:t>System Architecture</a:t>
            </a:r>
            <a:endParaRPr lang="en-IN" sz="1800"/>
          </a:p>
          <a:p>
            <a:pPr marL="514350" indent="-514350">
              <a:buFont typeface="+mj-lt"/>
              <a:buAutoNum type="arabicPeriod"/>
            </a:pPr>
            <a:r>
              <a:rPr lang="en-IN" sz="1800">
                <a:sym typeface="+mn-ea"/>
              </a:rPr>
              <a:t>Project Modules</a:t>
            </a:r>
            <a:endParaRPr lang="en-IN" sz="1800"/>
          </a:p>
          <a:p>
            <a:pPr marL="514350" indent="-514350">
              <a:buFont typeface="+mj-lt"/>
              <a:buAutoNum type="arabicPeriod"/>
            </a:pPr>
            <a:r>
              <a:rPr lang="en-IN" sz="1800">
                <a:sym typeface="+mn-ea"/>
              </a:rPr>
              <a:t>Objectives </a:t>
            </a:r>
            <a:endParaRPr lang="en-IN" sz="1800"/>
          </a:p>
          <a:p>
            <a:pPr marL="514350" indent="-514350">
              <a:buFont typeface="+mj-lt"/>
              <a:buAutoNum type="arabicPeriod"/>
            </a:pPr>
            <a:r>
              <a:rPr lang="en-IN" sz="1800">
                <a:sym typeface="+mn-ea"/>
              </a:rPr>
              <a:t>Co’s Attainments - FWD</a:t>
            </a:r>
            <a:endParaRPr lang="en-IN" sz="1800"/>
          </a:p>
          <a:p>
            <a:pPr marL="971550" lvl="1" indent="-514350">
              <a:buFont typeface="+mj-lt"/>
              <a:buAutoNum type="arabicPeriod"/>
            </a:pPr>
            <a:r>
              <a:rPr lang="en-IN" sz="1800">
                <a:sym typeface="+mn-ea"/>
              </a:rPr>
              <a:t>Co1</a:t>
            </a:r>
            <a:endParaRPr lang="en-IN" sz="1800"/>
          </a:p>
          <a:p>
            <a:pPr marL="971550" lvl="1" indent="-514350">
              <a:buFont typeface="+mj-lt"/>
              <a:buAutoNum type="arabicPeriod"/>
            </a:pPr>
            <a:r>
              <a:rPr lang="en-IN" sz="1800">
                <a:sym typeface="+mn-ea"/>
              </a:rPr>
              <a:t>Co2 …….. 5. Co5</a:t>
            </a:r>
            <a:endParaRPr lang="en-IN" sz="1800"/>
          </a:p>
          <a:p>
            <a:pPr marL="514350" indent="-514350">
              <a:buFont typeface="+mj-lt"/>
              <a:buAutoNum type="arabicPeriod"/>
            </a:pPr>
            <a:r>
              <a:rPr lang="en-IN" sz="1800">
                <a:sym typeface="+mn-ea"/>
              </a:rPr>
              <a:t>Co’s Attainments - DSA</a:t>
            </a:r>
            <a:endParaRPr lang="en-IN" sz="1800"/>
          </a:p>
          <a:p>
            <a:pPr marL="971550" lvl="1" indent="-514350">
              <a:buFont typeface="+mj-lt"/>
              <a:buAutoNum type="arabicPeriod"/>
            </a:pPr>
            <a:r>
              <a:rPr lang="en-IN" sz="1800">
                <a:sym typeface="+mn-ea"/>
              </a:rPr>
              <a:t>Co1</a:t>
            </a:r>
            <a:endParaRPr lang="en-IN" sz="1800"/>
          </a:p>
          <a:p>
            <a:pPr marL="971550" lvl="1" indent="-514350">
              <a:buFont typeface="+mj-lt"/>
              <a:buAutoNum type="arabicPeriod"/>
            </a:pPr>
            <a:r>
              <a:rPr lang="en-IN" sz="1800">
                <a:sym typeface="+mn-ea"/>
              </a:rPr>
              <a:t>Co2 …….. 5. Co5</a:t>
            </a:r>
            <a:endParaRPr lang="en-IN" sz="1800"/>
          </a:p>
          <a:p>
            <a:pPr marL="514350" indent="-514350">
              <a:buFont typeface="+mj-lt"/>
              <a:buAutoNum type="arabicPeriod"/>
            </a:pPr>
            <a:r>
              <a:rPr lang="en-IN" sz="1800">
                <a:sym typeface="+mn-ea"/>
              </a:rPr>
              <a:t>Screen Shots for FWD &amp; DSA</a:t>
            </a:r>
            <a:endParaRPr lang="en-IN" sz="1800"/>
          </a:p>
          <a:p>
            <a:pPr marL="514350" indent="-514350">
              <a:buFont typeface="+mj-lt"/>
              <a:buAutoNum type="arabicPeriod"/>
            </a:pPr>
            <a:r>
              <a:rPr lang="en-IN" sz="1800">
                <a:sym typeface="+mn-ea"/>
              </a:rPr>
              <a:t>Conclusion</a:t>
            </a:r>
            <a:endParaRPr lang="en-IN" sz="1800"/>
          </a:p>
          <a:p>
            <a:pPr marL="514350" indent="-514350">
              <a:buFont typeface="+mj-lt"/>
              <a:buAutoNum type="arabicPeriod"/>
            </a:pPr>
            <a:r>
              <a:rPr lang="en-IN" sz="1800">
                <a:sym typeface="+mn-ea"/>
              </a:rPr>
              <a:t>Geo-Tagged Photos</a:t>
            </a:r>
            <a:endParaRPr lang="en-IN" sz="1800"/>
          </a:p>
          <a:p>
            <a:endParaRPr lang="en-US" sz="1800"/>
          </a:p>
        </p:txBody>
      </p:sp>
      <p:sp>
        <p:nvSpPr>
          <p:cNvPr id="4" name="Text Box 3"/>
          <p:cNvSpPr txBox="1"/>
          <p:nvPr/>
        </p:nvSpPr>
        <p:spPr>
          <a:xfrm>
            <a:off x="-635" y="-635"/>
            <a:ext cx="9145270" cy="994410"/>
          </a:xfrm>
          <a:prstGeom prst="rect">
            <a:avLst/>
          </a:prstGeom>
          <a:noFill/>
        </p:spPr>
        <p:txBody>
          <a:bodyPr wrap="square" rtlCol="0">
            <a:noAutofit/>
          </a:bodyPr>
          <a:lstStyle/>
          <a:p>
            <a:pPr algn="ctr"/>
            <a:r>
              <a:rPr lang="en-IN" altLang="en-US" sz="4000">
                <a:latin typeface="Bookman Old Style" panose="02050604050505020204" charset="0"/>
                <a:cs typeface="Bookman Old Style" panose="02050604050505020204" charset="0"/>
              </a:rPr>
              <a:t>Outline</a:t>
            </a:r>
          </a:p>
        </p:txBody>
      </p:sp>
      <p:pic>
        <p:nvPicPr>
          <p:cNvPr id="12" name="Picture 11" descr="A picture containing shape&#10;&#10;Description automatically generated"/>
          <p:cNvPicPr>
            <a:picLocks noChangeAspect="1"/>
          </p:cNvPicPr>
          <p:nvPr/>
        </p:nvPicPr>
        <p:blipFill>
          <a:blip r:embed="rId2"/>
          <a:stretch>
            <a:fillRect/>
          </a:stretch>
        </p:blipFill>
        <p:spPr>
          <a:xfrm>
            <a:off x="73161" y="62918"/>
            <a:ext cx="1334632" cy="720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solidFill>
                  <a:schemeClr val="tx1"/>
                </a:solidFill>
                <a:effectLst>
                  <a:outerShdw blurRad="38100" dist="19050" dir="2700000" algn="tl" rotWithShape="0">
                    <a:schemeClr val="dk1">
                      <a:alpha val="40000"/>
                    </a:schemeClr>
                  </a:outerShdw>
                </a:effectLst>
                <a:latin typeface="Bookman Old Style" panose="02050604050505020204" charset="0"/>
                <a:cs typeface="Bookman Old Style" panose="02050604050505020204" charset="0"/>
              </a:rPr>
              <a:t>Abstract</a:t>
            </a:r>
          </a:p>
        </p:txBody>
      </p:sp>
      <p:sp>
        <p:nvSpPr>
          <p:cNvPr id="3" name="Content Placeholder 2"/>
          <p:cNvSpPr>
            <a:spLocks noGrp="1"/>
          </p:cNvSpPr>
          <p:nvPr>
            <p:ph idx="1"/>
          </p:nvPr>
        </p:nvSpPr>
        <p:spPr/>
        <p:txBody>
          <a:bodyPr/>
          <a:lstStyle/>
          <a:p>
            <a:pPr marL="0" indent="0">
              <a:buNone/>
            </a:pPr>
            <a:r>
              <a:rPr lang="en-US" altLang="en-US" sz="2000">
                <a:cs typeface="+mn-lt"/>
              </a:rPr>
              <a:t>The Hospital Management System is a web-based platform designed to simplify the management of hospital services and patient information. The main objective of this project is to create a centralized system where patients can view doctors, book appointments, and access basic hospital services online, while administrators can manage doctor details and appointments efficiently.</a:t>
            </a:r>
          </a:p>
          <a:p>
            <a:pPr marL="0" indent="0">
              <a:buNone/>
            </a:pPr>
            <a:endParaRPr lang="en-US" altLang="en-US" sz="2000">
              <a:cs typeface="+mn-lt"/>
            </a:endParaRPr>
          </a:p>
          <a:p>
            <a:pPr marL="0" indent="0">
              <a:buNone/>
            </a:pPr>
            <a:r>
              <a:rPr lang="en-US" altLang="en-US" sz="2000">
                <a:cs typeface="+mn-lt"/>
              </a:rPr>
              <a:t>The website includes features such as doctor listings, appointment scheduling, and a dashboard interface to organize hospital activities. It is developed using HTML, CSS, and JavaScript to provide a simple, responsive, and interactive user interface. This system helps improve hospital management, reduce manual work, and provide easier access to healthcare services for patients.</a:t>
            </a:r>
          </a:p>
        </p:txBody>
      </p:sp>
      <p:pic>
        <p:nvPicPr>
          <p:cNvPr id="12" name="Picture 11" descr="A picture containing shape&#10;&#10;Description automatically generated"/>
          <p:cNvPicPr>
            <a:picLocks noChangeAspect="1"/>
          </p:cNvPicPr>
          <p:nvPr/>
        </p:nvPicPr>
        <p:blipFill>
          <a:blip r:embed="rId2"/>
          <a:stretch>
            <a:fillRect/>
          </a:stretch>
        </p:blipFill>
        <p:spPr>
          <a:xfrm>
            <a:off x="73161" y="62918"/>
            <a:ext cx="1334632" cy="720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a:latin typeface="Bookman Old Style" panose="02050604050505020204" charset="0"/>
                <a:cs typeface="Bookman Old Style" panose="02050604050505020204" charset="0"/>
                <a:sym typeface="+mn-ea"/>
              </a:rPr>
              <a:t>Existing System </a:t>
            </a:r>
            <a:endParaRPr lang="en-IN" sz="4000">
              <a:latin typeface="Bookman Old Style" panose="02050604050505020204" charset="0"/>
              <a:cs typeface="Bookman Old Style" panose="02050604050505020204" charset="0"/>
            </a:endParaRPr>
          </a:p>
        </p:txBody>
      </p:sp>
      <p:sp>
        <p:nvSpPr>
          <p:cNvPr id="3" name="Content Placeholder 2"/>
          <p:cNvSpPr>
            <a:spLocks noGrp="1"/>
          </p:cNvSpPr>
          <p:nvPr>
            <p:ph idx="1"/>
          </p:nvPr>
        </p:nvSpPr>
        <p:spPr>
          <a:xfrm>
            <a:off x="122555" y="1417955"/>
            <a:ext cx="8919210" cy="5245100"/>
          </a:xfrm>
        </p:spPr>
        <p:txBody>
          <a:bodyPr>
            <a:normAutofit fontScale="85000" lnSpcReduction="10000"/>
          </a:bodyPr>
          <a:lstStyle/>
          <a:p>
            <a:pPr marL="0" indent="0">
              <a:buNone/>
            </a:pPr>
            <a:r>
              <a:rPr lang="en-US" altLang="en-US" sz="3000"/>
              <a:t>In the existing system, most hospitals manage patient records, appointments, and doctor information manually or through basic communication methods such as phone calls and paper records. Although these methods allow hospitals to provide services, they are not well organized and it becomes difficult to manage patient information efficiently.</a:t>
            </a:r>
          </a:p>
          <a:p>
            <a:pPr marL="0" indent="0">
              <a:buNone/>
            </a:pPr>
            <a:endParaRPr lang="en-US" altLang="en-US" sz="3000"/>
          </a:p>
          <a:p>
            <a:pPr marL="0" indent="0">
              <a:buNone/>
            </a:pPr>
            <a:r>
              <a:rPr lang="en-US" altLang="en-US" sz="3000"/>
              <a:t>Appointment scheduling is often done manually, which can lead to delays, confusion, and longer waiting times for patients. In addition, patient records and doctor details may not be easily accessible when needed. Because of these limitations, managing hospital operations becomes time-consuming and less efficient. Therefore, a dedicated digital platform is needed to organize hospital services and manage patient and doctor information effectively.</a:t>
            </a:r>
          </a:p>
        </p:txBody>
      </p:sp>
      <p:pic>
        <p:nvPicPr>
          <p:cNvPr id="12" name="Picture 11" descr="A picture containing shape&#10;&#10;Description automatically generated"/>
          <p:cNvPicPr>
            <a:picLocks noChangeAspect="1"/>
          </p:cNvPicPr>
          <p:nvPr/>
        </p:nvPicPr>
        <p:blipFill>
          <a:blip r:embed="rId2"/>
          <a:stretch>
            <a:fillRect/>
          </a:stretch>
        </p:blipFill>
        <p:spPr>
          <a:xfrm>
            <a:off x="73161" y="62918"/>
            <a:ext cx="1334632" cy="720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atin typeface="Bookman Old Style" panose="02050604050505020204" charset="0"/>
                <a:cs typeface="Bookman Old Style" panose="02050604050505020204" charset="0"/>
              </a:rPr>
              <a:t>System Architecture</a:t>
            </a:r>
          </a:p>
        </p:txBody>
      </p:sp>
      <p:pic>
        <p:nvPicPr>
          <p:cNvPr id="12" name="Picture 11" descr="A picture containing shape&#10;&#10;Description automatically generated"/>
          <p:cNvPicPr>
            <a:picLocks noChangeAspect="1"/>
          </p:cNvPicPr>
          <p:nvPr/>
        </p:nvPicPr>
        <p:blipFill>
          <a:blip r:embed="rId2"/>
          <a:stretch>
            <a:fillRect/>
          </a:stretch>
        </p:blipFill>
        <p:spPr>
          <a:xfrm>
            <a:off x="73161" y="62918"/>
            <a:ext cx="1334632" cy="720000"/>
          </a:xfrm>
          <a:prstGeom prst="rect">
            <a:avLst/>
          </a:prstGeom>
        </p:spPr>
      </p:pic>
      <p:pic>
        <p:nvPicPr>
          <p:cNvPr id="6" name="Content Placeholder 5">
            <a:extLst>
              <a:ext uri="{FF2B5EF4-FFF2-40B4-BE49-F238E27FC236}">
                <a16:creationId xmlns:a16="http://schemas.microsoft.com/office/drawing/2014/main" id="{8201DA9E-EC01-FC07-8C9A-7453F8BBCF6A}"/>
              </a:ext>
            </a:extLst>
          </p:cNvPr>
          <p:cNvPicPr>
            <a:picLocks noGrp="1" noChangeAspect="1"/>
          </p:cNvPicPr>
          <p:nvPr>
            <p:ph idx="1"/>
          </p:nvPr>
        </p:nvPicPr>
        <p:blipFill>
          <a:blip r:embed="rId3"/>
          <a:stretch>
            <a:fillRect/>
          </a:stretch>
        </p:blipFill>
        <p:spPr bwMode="auto">
          <a:xfrm>
            <a:off x="1177528" y="1600200"/>
            <a:ext cx="6788944" cy="4525963"/>
          </a:xfrm>
          <a:prstGeom prst="rect">
            <a:avLst/>
          </a:prstGeom>
          <a:noFill/>
          <a:ln w="9525">
            <a:noFill/>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a:latin typeface="Bookman Old Style" panose="02050604050505020204" charset="0"/>
                <a:cs typeface="Bookman Old Style" panose="02050604050505020204" charset="0"/>
              </a:rPr>
              <a:t>Project Modules</a:t>
            </a:r>
          </a:p>
        </p:txBody>
      </p:sp>
      <p:sp>
        <p:nvSpPr>
          <p:cNvPr id="3" name="Content Placeholder 2"/>
          <p:cNvSpPr>
            <a:spLocks noGrp="1"/>
          </p:cNvSpPr>
          <p:nvPr>
            <p:ph idx="1"/>
          </p:nvPr>
        </p:nvSpPr>
        <p:spPr>
          <a:xfrm>
            <a:off x="457200" y="1600200"/>
            <a:ext cx="8229600" cy="4883150"/>
          </a:xfrm>
        </p:spPr>
        <p:txBody>
          <a:bodyPr/>
          <a:lstStyle/>
          <a:p>
            <a:r>
              <a:rPr lang="en-US" altLang="en-US" sz="1800"/>
              <a:t>User Registration &amp; Login:</a:t>
            </a:r>
          </a:p>
          <a:p>
            <a:pPr marL="0" indent="0">
              <a:buNone/>
            </a:pPr>
            <a:r>
              <a:rPr lang="en-IN" altLang="en-US" sz="1800"/>
              <a:t>                </a:t>
            </a:r>
            <a:r>
              <a:rPr lang="en-US" altLang="en-US" sz="1800"/>
              <a:t>Allows users to create accounts and log in to the system.</a:t>
            </a:r>
          </a:p>
          <a:p>
            <a:endParaRPr lang="en-US" altLang="en-US" sz="1800"/>
          </a:p>
          <a:p>
            <a:r>
              <a:rPr lang="en-US" altLang="en-US" sz="1800"/>
              <a:t>Doctor Management:</a:t>
            </a:r>
          </a:p>
          <a:p>
            <a:pPr marL="0" indent="0">
              <a:buNone/>
            </a:pPr>
            <a:r>
              <a:rPr lang="en-IN" altLang="en-US" sz="1800"/>
              <a:t>                </a:t>
            </a:r>
            <a:r>
              <a:rPr lang="en-US" altLang="en-US" sz="1800"/>
              <a:t>Displays the list of doctors and their specializations.</a:t>
            </a:r>
          </a:p>
          <a:p>
            <a:endParaRPr lang="en-US" altLang="en-US" sz="1800"/>
          </a:p>
          <a:p>
            <a:r>
              <a:rPr lang="en-US" altLang="en-US" sz="1800"/>
              <a:t>Appointment Booking:</a:t>
            </a:r>
          </a:p>
          <a:p>
            <a:pPr marL="0" indent="0">
              <a:buNone/>
            </a:pPr>
            <a:r>
              <a:rPr lang="en-IN" altLang="en-US" sz="1800"/>
              <a:t>                 </a:t>
            </a:r>
            <a:r>
              <a:rPr lang="en-US" altLang="en-US" sz="1800"/>
              <a:t>Enables patients to book appointments with doctors.</a:t>
            </a:r>
          </a:p>
          <a:p>
            <a:endParaRPr lang="en-US" altLang="en-US" sz="1800"/>
          </a:p>
          <a:p>
            <a:r>
              <a:rPr lang="en-US" altLang="en-US" sz="1800"/>
              <a:t>Patient Information:</a:t>
            </a:r>
          </a:p>
          <a:p>
            <a:pPr marL="0" indent="0">
              <a:buNone/>
            </a:pPr>
            <a:r>
              <a:rPr lang="en-IN" altLang="en-US" sz="1800"/>
              <a:t>                 </a:t>
            </a:r>
            <a:r>
              <a:rPr lang="en-US" altLang="en-US" sz="1800"/>
              <a:t>Stores basic patient and appointment details.</a:t>
            </a:r>
          </a:p>
          <a:p>
            <a:endParaRPr lang="en-US" altLang="en-US" sz="1800"/>
          </a:p>
          <a:p>
            <a:r>
              <a:rPr lang="en-US" altLang="en-US" sz="1800"/>
              <a:t>Dashboard:</a:t>
            </a:r>
          </a:p>
          <a:p>
            <a:pPr marL="0" indent="0">
              <a:buNone/>
            </a:pPr>
            <a:r>
              <a:rPr lang="en-IN" altLang="en-US" sz="1800"/>
              <a:t>                 </a:t>
            </a:r>
            <a:r>
              <a:rPr lang="en-US" altLang="en-US" sz="1800"/>
              <a:t>Shows hospital services, doctors, and appointments in one place</a:t>
            </a:r>
            <a:r>
              <a:rPr lang="en-US" altLang="en-US" sz="1400"/>
              <a:t>.</a:t>
            </a:r>
          </a:p>
        </p:txBody>
      </p:sp>
      <p:pic>
        <p:nvPicPr>
          <p:cNvPr id="12" name="Picture 11" descr="A picture containing shape&#10;&#10;Description automatically generated"/>
          <p:cNvPicPr>
            <a:picLocks noChangeAspect="1"/>
          </p:cNvPicPr>
          <p:nvPr/>
        </p:nvPicPr>
        <p:blipFill>
          <a:blip r:embed="rId2"/>
          <a:stretch>
            <a:fillRect/>
          </a:stretch>
        </p:blipFill>
        <p:spPr>
          <a:xfrm>
            <a:off x="73161" y="62918"/>
            <a:ext cx="1334632" cy="720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sz="4000">
                <a:latin typeface="Bookman Old Style" panose="02050604050505020204" charset="0"/>
                <a:cs typeface="Bookman Old Style" panose="02050604050505020204" charset="0"/>
              </a:rPr>
              <a:t>Objectives</a:t>
            </a:r>
          </a:p>
        </p:txBody>
      </p:sp>
      <p:sp>
        <p:nvSpPr>
          <p:cNvPr id="3" name="Content Placeholder 2"/>
          <p:cNvSpPr>
            <a:spLocks noGrp="1"/>
          </p:cNvSpPr>
          <p:nvPr>
            <p:ph idx="1"/>
          </p:nvPr>
        </p:nvSpPr>
        <p:spPr/>
        <p:txBody>
          <a:bodyPr/>
          <a:lstStyle/>
          <a:p>
            <a:r>
              <a:rPr lang="en-US" altLang="en-US" sz="2000"/>
              <a:t>To create a platform where patients can easily view doctors and hospital services.</a:t>
            </a:r>
          </a:p>
          <a:p>
            <a:endParaRPr lang="en-US" altLang="en-US" sz="2000"/>
          </a:p>
          <a:p>
            <a:r>
              <a:rPr lang="en-US" altLang="en-US" sz="2000"/>
              <a:t>To provide a centralized system for managing hospital information.</a:t>
            </a:r>
          </a:p>
          <a:p>
            <a:endParaRPr lang="en-US" altLang="en-US" sz="2000"/>
          </a:p>
          <a:p>
            <a:r>
              <a:rPr lang="en-US" altLang="en-US" sz="2000"/>
              <a:t>To allow patients to book appointments with doctors online.</a:t>
            </a:r>
          </a:p>
          <a:p>
            <a:endParaRPr lang="en-US" altLang="en-US" sz="2000"/>
          </a:p>
          <a:p>
            <a:r>
              <a:rPr lang="en-US" altLang="en-US" sz="2000"/>
              <a:t>To help hospitals organize patient and doctor details efficiently.</a:t>
            </a:r>
          </a:p>
          <a:p>
            <a:endParaRPr lang="en-US" altLang="en-US" sz="2000"/>
          </a:p>
          <a:p>
            <a:r>
              <a:rPr lang="en-US" altLang="en-US" sz="2000"/>
              <a:t>To provide a simple and user-friendly interface for users. </a:t>
            </a:r>
            <a:endParaRPr lang="zh-CN" altLang="en-US" sz="2000"/>
          </a:p>
        </p:txBody>
      </p:sp>
      <p:pic>
        <p:nvPicPr>
          <p:cNvPr id="12" name="Picture 11" descr="A picture containing shape&#10;&#10;Description automatically generated"/>
          <p:cNvPicPr>
            <a:picLocks noChangeAspect="1"/>
          </p:cNvPicPr>
          <p:nvPr/>
        </p:nvPicPr>
        <p:blipFill>
          <a:blip r:embed="rId2"/>
          <a:stretch>
            <a:fillRect/>
          </a:stretch>
        </p:blipFill>
        <p:spPr>
          <a:xfrm>
            <a:off x="73161" y="62918"/>
            <a:ext cx="1334632" cy="720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955"/>
            <a:ext cx="8229600" cy="901065"/>
          </a:xfrm>
        </p:spPr>
        <p:txBody>
          <a:bodyPr/>
          <a:lstStyle/>
          <a:p>
            <a:r>
              <a:rPr lang="en-US" sz="4000">
                <a:latin typeface="Bookman Old Style" panose="02050604050505020204" charset="0"/>
                <a:cs typeface="Bookman Old Style" panose="02050604050505020204" charset="0"/>
                <a:sym typeface="+mn-ea"/>
              </a:rPr>
              <a:t>Co’s Attainments - FWD</a:t>
            </a:r>
            <a:endParaRPr sz="4000">
              <a:latin typeface="Bookman Old Style" panose="02050604050505020204" charset="0"/>
              <a:cs typeface="Bookman Old Style" panose="02050604050505020204" charset="0"/>
            </a:endParaRPr>
          </a:p>
        </p:txBody>
      </p:sp>
      <p:sp>
        <p:nvSpPr>
          <p:cNvPr id="3" name="Content Placeholder 2"/>
          <p:cNvSpPr>
            <a:spLocks noGrp="1"/>
          </p:cNvSpPr>
          <p:nvPr>
            <p:ph idx="1"/>
          </p:nvPr>
        </p:nvSpPr>
        <p:spPr>
          <a:xfrm>
            <a:off x="457200" y="1176020"/>
            <a:ext cx="8229600" cy="4950460"/>
          </a:xfrm>
        </p:spPr>
        <p:txBody>
          <a:bodyPr/>
          <a:lstStyle/>
          <a:p>
            <a:pPr marL="0" indent="0">
              <a:buNone/>
            </a:pPr>
            <a:r>
              <a:rPr lang="en-US" altLang="en-US" sz="1600"/>
              <a:t>CO1 – Apply Internet Fundamentals, HTML &amp; Introductory CSS Styling</a:t>
            </a:r>
          </a:p>
          <a:p>
            <a:pPr marL="0" indent="0">
              <a:buNone/>
            </a:pPr>
            <a:r>
              <a:rPr lang="en-IN" altLang="en-US" sz="1600"/>
              <a:t>T</a:t>
            </a:r>
            <a:r>
              <a:rPr lang="en-US" altLang="en-US" sz="1600"/>
              <a:t>he project uses HTML to design the structure of the hospital website (forms, doctor cards, dashboard) and CSS for styling and layout, showing basic web development concepts.</a:t>
            </a:r>
          </a:p>
          <a:p>
            <a:pPr marL="0" indent="0">
              <a:buNone/>
            </a:pPr>
            <a:endParaRPr lang="en-US" altLang="en-US" sz="1600"/>
          </a:p>
          <a:p>
            <a:pPr marL="0" indent="0">
              <a:buNone/>
            </a:pPr>
            <a:r>
              <a:rPr lang="en-US" altLang="en-US" sz="1600"/>
              <a:t>CO2 – Apply HTML Forms, Semantic Tags &amp; Comprehensive CSS Layouts</a:t>
            </a:r>
          </a:p>
          <a:p>
            <a:pPr marL="0" indent="0">
              <a:buNone/>
            </a:pPr>
            <a:r>
              <a:rPr lang="en-US" altLang="en-US" sz="1600"/>
              <a:t>The system includes login, signup, and appointment booking forms, uses semantic HTML elements, and implements responsive layouts using CSS.</a:t>
            </a:r>
          </a:p>
          <a:p>
            <a:pPr marL="0" indent="0">
              <a:buNone/>
            </a:pPr>
            <a:endParaRPr lang="en-US" altLang="en-US" sz="1600"/>
          </a:p>
          <a:p>
            <a:pPr marL="0" indent="0">
              <a:buNone/>
            </a:pPr>
            <a:r>
              <a:rPr lang="en-US" altLang="en-US" sz="1600"/>
              <a:t>CO3 – Apply JavaScript Programming Essentials</a:t>
            </a:r>
          </a:p>
          <a:p>
            <a:pPr marL="0" indent="0">
              <a:buNone/>
            </a:pPr>
            <a:r>
              <a:rPr lang="en-US" altLang="en-US" sz="1600"/>
              <a:t>JavaScript is used to handle user input, manage doctor and appointment data, and store information using localStorage.</a:t>
            </a:r>
          </a:p>
          <a:p>
            <a:pPr marL="0" indent="0">
              <a:buNone/>
            </a:pPr>
            <a:endParaRPr lang="en-US" altLang="en-US" sz="1600"/>
          </a:p>
          <a:p>
            <a:pPr marL="0" indent="0">
              <a:buNone/>
            </a:pPr>
            <a:r>
              <a:rPr lang="en-US" altLang="en-US" sz="1600"/>
              <a:t>CO4 – Apply JavaScript Interactivity &amp; DOM</a:t>
            </a:r>
          </a:p>
          <a:p>
            <a:pPr marL="0" indent="0">
              <a:buNone/>
            </a:pPr>
            <a:r>
              <a:rPr lang="en-US" altLang="en-US" sz="1600"/>
              <a:t>The project uses DOM manipulation and event handling to dynamically display doctors, appointments, and user interactions.</a:t>
            </a:r>
          </a:p>
          <a:p>
            <a:pPr marL="0" indent="0">
              <a:buNone/>
            </a:pPr>
            <a:endParaRPr lang="en-US" altLang="en-US" sz="1600"/>
          </a:p>
          <a:p>
            <a:pPr marL="0" indent="0">
              <a:buNone/>
            </a:pPr>
            <a:r>
              <a:rPr lang="en-US" altLang="en-US" sz="1600"/>
              <a:t>CO5 – Apply Advanced Web Development &amp; Deployment</a:t>
            </a:r>
          </a:p>
          <a:p>
            <a:pPr marL="0" indent="0">
              <a:buNone/>
            </a:pPr>
            <a:r>
              <a:rPr lang="en-US" altLang="en-US" sz="1600"/>
              <a:t>The project integrates features like appointment booking, doctor listings, dashboard interface, and interactive UI, demonstrating advanced front-end web development.</a:t>
            </a:r>
          </a:p>
        </p:txBody>
      </p:sp>
      <p:pic>
        <p:nvPicPr>
          <p:cNvPr id="12" name="Picture 11" descr="A picture containing shape&#10;&#10;Description automatically generated"/>
          <p:cNvPicPr>
            <a:picLocks noChangeAspect="1"/>
          </p:cNvPicPr>
          <p:nvPr/>
        </p:nvPicPr>
        <p:blipFill>
          <a:blip r:embed="rId2"/>
          <a:stretch>
            <a:fillRect/>
          </a:stretch>
        </p:blipFill>
        <p:spPr>
          <a:xfrm>
            <a:off x="73161" y="62918"/>
            <a:ext cx="1334632" cy="720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a:latin typeface="Bookman Old Style" panose="02050604050505020204" charset="0"/>
                <a:cs typeface="Bookman Old Style" panose="02050604050505020204" charset="0"/>
                <a:sym typeface="+mn-ea"/>
              </a:rPr>
              <a:t>Co’s Attainments - DSA</a:t>
            </a:r>
            <a:endParaRPr sz="4000">
              <a:latin typeface="Bookman Old Style" panose="02050604050505020204" charset="0"/>
              <a:cs typeface="Bookman Old Style" panose="02050604050505020204" charset="0"/>
            </a:endParaRPr>
          </a:p>
        </p:txBody>
      </p:sp>
      <p:sp>
        <p:nvSpPr>
          <p:cNvPr id="3" name="Content Placeholder 2"/>
          <p:cNvSpPr>
            <a:spLocks noGrp="1"/>
          </p:cNvSpPr>
          <p:nvPr>
            <p:ph idx="1"/>
          </p:nvPr>
        </p:nvSpPr>
        <p:spPr>
          <a:xfrm>
            <a:off x="457200" y="1600200"/>
            <a:ext cx="8229600" cy="5143500"/>
          </a:xfrm>
        </p:spPr>
        <p:txBody>
          <a:bodyPr/>
          <a:lstStyle/>
          <a:p>
            <a:pPr marL="0" indent="0">
              <a:buNone/>
            </a:pPr>
            <a:r>
              <a:rPr lang="en-US" altLang="en-US" sz="1800"/>
              <a:t>CO1: Implemented searching and sorting algorithms to manage doctor and appointment data efficiently.</a:t>
            </a:r>
          </a:p>
          <a:p>
            <a:pPr marL="0" indent="0">
              <a:buNone/>
            </a:pPr>
            <a:endParaRPr lang="en-US" altLang="en-US" sz="1800"/>
          </a:p>
          <a:p>
            <a:pPr marL="0" indent="0">
              <a:buNone/>
            </a:pPr>
            <a:r>
              <a:rPr lang="en-US" altLang="en-US" sz="1800"/>
              <a:t>CO2: Used Linked List to store and manage patient or appointment records.</a:t>
            </a:r>
          </a:p>
          <a:p>
            <a:pPr marL="0" indent="0">
              <a:buNone/>
            </a:pPr>
            <a:endParaRPr lang="en-US" altLang="en-US" sz="1800"/>
          </a:p>
          <a:p>
            <a:pPr marL="0" indent="0">
              <a:buNone/>
            </a:pPr>
            <a:r>
              <a:rPr lang="en-US" altLang="en-US" sz="1800"/>
              <a:t>CO3: Applied Stack and Queue to manage recent activities and appointment requests.</a:t>
            </a:r>
          </a:p>
          <a:p>
            <a:pPr marL="0" indent="0">
              <a:buNone/>
            </a:pPr>
            <a:endParaRPr lang="en-US" altLang="en-US" sz="1800"/>
          </a:p>
          <a:p>
            <a:pPr marL="0" indent="0">
              <a:buNone/>
            </a:pPr>
            <a:r>
              <a:rPr lang="en-US" altLang="en-US" sz="1800"/>
              <a:t>CO4: Used HashMap (hashing) for quick access to patient or doctor details using IDs.</a:t>
            </a:r>
          </a:p>
          <a:p>
            <a:pPr marL="0" indent="0">
              <a:buNone/>
            </a:pPr>
            <a:endParaRPr lang="en-US" altLang="en-US" sz="1800"/>
          </a:p>
          <a:p>
            <a:pPr marL="0" indent="0">
              <a:buNone/>
            </a:pPr>
            <a:r>
              <a:rPr lang="en-US" altLang="en-US" sz="1800"/>
              <a:t>CO5: Developed a practical application using linear data structures for hospital data management.</a:t>
            </a:r>
          </a:p>
          <a:p>
            <a:pPr marL="0" indent="0">
              <a:buNone/>
            </a:pPr>
            <a:endParaRPr lang="en-US" altLang="en-US" sz="1800"/>
          </a:p>
          <a:p>
            <a:pPr marL="0" indent="0">
              <a:buNone/>
            </a:pPr>
            <a:r>
              <a:rPr lang="en-US" altLang="en-US" sz="1800"/>
              <a:t>CO6: Built a menu-driven Java program integrating multiple data structures and algorithms.</a:t>
            </a:r>
          </a:p>
        </p:txBody>
      </p:sp>
      <p:pic>
        <p:nvPicPr>
          <p:cNvPr id="12" name="Picture 11" descr="A picture containing shape&#10;&#10;Description automatically generated"/>
          <p:cNvPicPr>
            <a:picLocks noChangeAspect="1"/>
          </p:cNvPicPr>
          <p:nvPr/>
        </p:nvPicPr>
        <p:blipFill>
          <a:blip r:embed="rId2"/>
          <a:stretch>
            <a:fillRect/>
          </a:stretch>
        </p:blipFill>
        <p:spPr>
          <a:xfrm>
            <a:off x="73161" y="62918"/>
            <a:ext cx="1334632" cy="720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0000"/>
          </a:xfrm>
        </p:spPr>
        <p:txBody>
          <a:bodyPr/>
          <a:lstStyle/>
          <a:p>
            <a:r>
              <a:rPr lang="en-IN" sz="4800">
                <a:latin typeface="Bookman Old Style" panose="02050604050505020204" charset="0"/>
                <a:cs typeface="Bookman Old Style" panose="02050604050505020204" charset="0"/>
              </a:rPr>
              <a:t>Screenshots for </a:t>
            </a:r>
            <a:r>
              <a:rPr lang="en-IN" sz="4800" err="1">
                <a:latin typeface="Bookman Old Style" panose="02050604050505020204" charset="0"/>
                <a:cs typeface="Bookman Old Style" panose="02050604050505020204" charset="0"/>
              </a:rPr>
              <a:t>fwd</a:t>
            </a:r>
            <a:endParaRPr sz="4800">
              <a:latin typeface="Bookman Old Style" panose="02050604050505020204" charset="0"/>
              <a:cs typeface="Bookman Old Style" panose="02050604050505020204" charset="0"/>
            </a:endParaRPr>
          </a:p>
        </p:txBody>
      </p:sp>
      <p:pic>
        <p:nvPicPr>
          <p:cNvPr id="12" name="Picture 11" descr="A picture containing shape&#10;&#10;Description automatically generated"/>
          <p:cNvPicPr>
            <a:picLocks noChangeAspect="1"/>
          </p:cNvPicPr>
          <p:nvPr/>
        </p:nvPicPr>
        <p:blipFill>
          <a:blip r:embed="rId2"/>
          <a:stretch>
            <a:fillRect/>
          </a:stretch>
        </p:blipFill>
        <p:spPr>
          <a:xfrm>
            <a:off x="73161" y="62918"/>
            <a:ext cx="1334632" cy="720000"/>
          </a:xfrm>
          <a:prstGeom prst="rect">
            <a:avLst/>
          </a:prstGeom>
        </p:spPr>
      </p:pic>
      <p:pic>
        <p:nvPicPr>
          <p:cNvPr id="7" name="Content Placeholder 6" descr="A screenshot of a medical service&#10;&#10;AI-generated content may be incorrect.">
            <a:extLst>
              <a:ext uri="{FF2B5EF4-FFF2-40B4-BE49-F238E27FC236}">
                <a16:creationId xmlns:a16="http://schemas.microsoft.com/office/drawing/2014/main" id="{1A984C89-916C-16F5-D551-BAFA246D347D}"/>
              </a:ext>
            </a:extLst>
          </p:cNvPr>
          <p:cNvPicPr>
            <a:picLocks noGrp="1" noChangeAspect="1"/>
          </p:cNvPicPr>
          <p:nvPr>
            <p:ph idx="1"/>
          </p:nvPr>
        </p:nvPicPr>
        <p:blipFill>
          <a:blip r:embed="rId3"/>
          <a:stretch>
            <a:fillRect/>
          </a:stretch>
        </p:blipFill>
        <p:spPr>
          <a:xfrm>
            <a:off x="-5575" y="1827745"/>
            <a:ext cx="4572000" cy="3714035"/>
          </a:xfrm>
          <a:prstGeom prst="rect">
            <a:avLst/>
          </a:prstGeom>
          <a:noFill/>
          <a:ln w="9525">
            <a:noFill/>
          </a:ln>
        </p:spPr>
      </p:pic>
      <p:pic>
        <p:nvPicPr>
          <p:cNvPr id="8" name="Picture 7" descr="A screenshot of a computer&#10;&#10;AI-generated content may be incorrect.">
            <a:extLst>
              <a:ext uri="{FF2B5EF4-FFF2-40B4-BE49-F238E27FC236}">
                <a16:creationId xmlns:a16="http://schemas.microsoft.com/office/drawing/2014/main" id="{D3DF53E6-252C-3616-19E1-618F5AFB3D9D}"/>
              </a:ext>
            </a:extLst>
          </p:cNvPr>
          <p:cNvPicPr>
            <a:picLocks noChangeAspect="1"/>
          </p:cNvPicPr>
          <p:nvPr/>
        </p:nvPicPr>
        <p:blipFill>
          <a:blip r:embed="rId4"/>
          <a:stretch>
            <a:fillRect/>
          </a:stretch>
        </p:blipFill>
        <p:spPr>
          <a:xfrm>
            <a:off x="4572000" y="987744"/>
            <a:ext cx="4572000" cy="2931050"/>
          </a:xfrm>
          <a:prstGeom prst="rect">
            <a:avLst/>
          </a:prstGeom>
        </p:spPr>
      </p:pic>
      <p:pic>
        <p:nvPicPr>
          <p:cNvPr id="9" name="Picture 8" descr="A screenshot of a medical profile&#10;&#10;AI-generated content may be incorrect.">
            <a:extLst>
              <a:ext uri="{FF2B5EF4-FFF2-40B4-BE49-F238E27FC236}">
                <a16:creationId xmlns:a16="http://schemas.microsoft.com/office/drawing/2014/main" id="{DE0C88DF-FFF2-BC44-AFE7-9EE4D8F64D30}"/>
              </a:ext>
            </a:extLst>
          </p:cNvPr>
          <p:cNvPicPr>
            <a:picLocks noChangeAspect="1"/>
          </p:cNvPicPr>
          <p:nvPr/>
        </p:nvPicPr>
        <p:blipFill>
          <a:blip r:embed="rId5"/>
          <a:stretch>
            <a:fillRect/>
          </a:stretch>
        </p:blipFill>
        <p:spPr>
          <a:xfrm>
            <a:off x="4572000" y="3905368"/>
            <a:ext cx="4571999" cy="274947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4800">
                <a:latin typeface="Bookman Old Style" panose="02050604050505020204" charset="0"/>
                <a:cs typeface="Bookman Old Style" panose="02050604050505020204" charset="0"/>
              </a:rPr>
              <a:t>Conclusion</a:t>
            </a:r>
          </a:p>
        </p:txBody>
      </p:sp>
      <p:sp>
        <p:nvSpPr>
          <p:cNvPr id="3" name="Content Placeholder 2"/>
          <p:cNvSpPr>
            <a:spLocks noGrp="1"/>
          </p:cNvSpPr>
          <p:nvPr>
            <p:ph idx="1"/>
          </p:nvPr>
        </p:nvSpPr>
        <p:spPr/>
        <p:txBody>
          <a:bodyPr/>
          <a:lstStyle/>
          <a:p>
            <a:pPr marL="0" indent="0">
              <a:buNone/>
            </a:pPr>
            <a:r>
              <a:rPr lang="en-US" altLang="en-US" sz="2400"/>
              <a:t>The Hospital Management System demonstrates the practical implementation of a web-based application using HTML, CSS, and JavaScript. The system allows users to view doctors, book appointments, and access hospital information through a simple and interactive interface. It helps organize patient and doctor details efficiently and reduces manual work in managing hospital services. Overall, the project shows how basic web technologies can be used to develop a simple and effective hospital management system that improves accessibility and management of healthcare services.</a:t>
            </a:r>
          </a:p>
        </p:txBody>
      </p:sp>
      <p:pic>
        <p:nvPicPr>
          <p:cNvPr id="12" name="Picture 11" descr="A picture containing shape&#10;&#10;Description automatically generated"/>
          <p:cNvPicPr>
            <a:picLocks noChangeAspect="1"/>
          </p:cNvPicPr>
          <p:nvPr/>
        </p:nvPicPr>
        <p:blipFill>
          <a:blip r:embed="rId2"/>
          <a:stretch>
            <a:fillRect/>
          </a:stretch>
        </p:blipFill>
        <p:spPr>
          <a:xfrm>
            <a:off x="73161" y="62918"/>
            <a:ext cx="1334632" cy="720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Geo Tag Photos</a:t>
            </a:r>
          </a:p>
        </p:txBody>
      </p:sp>
      <p:sp>
        <p:nvSpPr>
          <p:cNvPr id="3" name="Content Placeholder 2"/>
          <p:cNvSpPr>
            <a:spLocks noGrp="1"/>
          </p:cNvSpPr>
          <p:nvPr>
            <p:ph idx="1"/>
          </p:nvPr>
        </p:nvSpPr>
        <p:spPr/>
        <p:txBody>
          <a:bodyPr/>
          <a:lstStyle/>
          <a:p>
            <a:pPr marL="0" indent="0">
              <a:buNone/>
            </a:pPr>
            <a:endParaRPr/>
          </a:p>
        </p:txBody>
      </p:sp>
      <p:pic>
        <p:nvPicPr>
          <p:cNvPr id="12" name="Picture 11" descr="A picture containing shape&#10;&#10;Description automatically generated"/>
          <p:cNvPicPr>
            <a:picLocks noChangeAspect="1"/>
          </p:cNvPicPr>
          <p:nvPr/>
        </p:nvPicPr>
        <p:blipFill>
          <a:blip r:embed="rId2"/>
          <a:stretch>
            <a:fillRect/>
          </a:stretch>
        </p:blipFill>
        <p:spPr>
          <a:xfrm>
            <a:off x="73161" y="62918"/>
            <a:ext cx="1334632" cy="720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79400"/>
            <a:ext cx="8229600" cy="5847080"/>
          </a:xfrm>
        </p:spPr>
        <p:txBody>
          <a:bodyPr/>
          <a:lstStyle/>
          <a:p>
            <a:pPr marL="0" indent="0" algn="just">
              <a:buNone/>
            </a:pPr>
            <a:endParaRPr lang="en-US"/>
          </a:p>
          <a:p>
            <a:pPr marL="0" indent="0" algn="just">
              <a:buNone/>
            </a:pPr>
            <a:endParaRPr lang="en-US"/>
          </a:p>
          <a:p>
            <a:pPr marL="0" indent="0" algn="just">
              <a:buNone/>
            </a:pPr>
            <a:endParaRPr lang="en-US"/>
          </a:p>
          <a:p>
            <a:pPr marL="0" indent="0" algn="just">
              <a:buNone/>
            </a:pPr>
            <a:endParaRPr lang="en-US"/>
          </a:p>
          <a:p>
            <a:pPr marL="0" indent="0" algn="just">
              <a:buNone/>
            </a:pPr>
            <a:r>
              <a:rPr lang="en-IN" altLang="en-US"/>
              <a:t>                         THANK YOU</a:t>
            </a:r>
          </a:p>
        </p:txBody>
      </p:sp>
      <p:pic>
        <p:nvPicPr>
          <p:cNvPr id="12" name="Picture 11" descr="A picture containing shape&#10;&#10;Description automatically generated"/>
          <p:cNvPicPr>
            <a:picLocks noChangeAspect="1"/>
          </p:cNvPicPr>
          <p:nvPr/>
        </p:nvPicPr>
        <p:blipFill>
          <a:blip r:embed="rId2"/>
          <a:stretch>
            <a:fillRect/>
          </a:stretch>
        </p:blipFill>
        <p:spPr>
          <a:xfrm>
            <a:off x="73161" y="62918"/>
            <a:ext cx="1334632" cy="720000"/>
          </a:xfrm>
          <a:prstGeom prst="rect">
            <a:avLst/>
          </a:prstGeom>
        </p:spPr>
      </p:pic>
    </p:spTree>
  </p:cSld>
  <p:clrMapOvr>
    <a:masterClrMapping/>
  </p:clrMapOvr>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13</Slides>
  <Notes>0</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Default Design</vt:lpstr>
      <vt:lpstr>Hospital Management System</vt:lpstr>
      <vt:lpstr>PowerPoint Presentation</vt:lpstr>
      <vt:lpstr>Abstract</vt:lpstr>
      <vt:lpstr>Existing System </vt:lpstr>
      <vt:lpstr>System Architecture</vt:lpstr>
      <vt:lpstr>Project Modules</vt:lpstr>
      <vt:lpstr>Objectives</vt:lpstr>
      <vt:lpstr>Co’s Attainments - FWD</vt:lpstr>
      <vt:lpstr>Co’s Attainments - DSA</vt:lpstr>
      <vt:lpstr>Screenshots for fwd</vt:lpstr>
      <vt:lpstr>Conclusion</vt:lpstr>
      <vt:lpstr>Geo Tag Photos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revision>33</cp:revision>
  <dcterms:created xsi:type="dcterms:W3CDTF">2013-01-27T09:14:00Z</dcterms:created>
  <dcterms:modified xsi:type="dcterms:W3CDTF">2026-03-09T16:00:10Z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A9ADD038CF5D4D7EA638D6750B081002_13</vt:lpwstr>
  </property>
  <property fmtid="{D5CDD505-2E9C-101B-9397-08002B2CF9AE}" pid="3" name="KSOProductBuildVer">
    <vt:lpwstr>1033-12.2.0.23196</vt:lpwstr>
  </property>
</Properties>
</file>